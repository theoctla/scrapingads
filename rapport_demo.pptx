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Litiers.jpg"/>
          <p:cNvPicPr>
            <a:picLocks noChangeAspect="1"/>
          </p:cNvPicPr>
          <p:nvPr/>
        </p:nvPicPr>
        <p:blipFill>
          <a:blip r:embed="rId2"/>
          <a:srcRect l="22135" r="22135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00800" cy="182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  <a:latin typeface="Calibri Light"/>
              </a:rPr>
              <a:t>RAPPORT DES CAMPAGNES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1828800" cy="182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FRANCE LITERIE BORDEAUX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C107"/>
                </a:solidFill>
                <a:latin typeface="Calibri Light"/>
              </a:rPr>
              <a:t>Mars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0"/>
                </a:solidFill>
                <a:latin typeface="Calibri Light"/>
              </a:rPr>
              <a:t>TARMAAC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 Light"/>
              </a:rPr>
              <a:t>WWW.TARMAAC.IO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ÉTAT RÉCAPITULATIF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97280" cy="182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0"/>
                </a:solidFill>
                <a:latin typeface="Calibri Light"/>
              </a:rPr>
              <a:t>Mars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0B0"/>
                </a:solidFill>
                <a:latin typeface="Calibri Light"/>
              </a:rPr>
              <a:t>TARMAAC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10047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417320"/>
            <a:ext cx="109728" cy="109728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53312"/>
            <a:ext cx="476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DIFFUSION TOTALE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495284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245 500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49528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+13.0% vs mois précédent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495284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  <a:latin typeface="Calibri Light"/>
              </a:rPr>
              <a:t>Impressions totales toutes plateformes confondues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188720"/>
            <a:ext cx="5410047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61607" y="1417320"/>
            <a:ext cx="109728" cy="109728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0207" y="1353312"/>
            <a:ext cx="476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TOTAL DES CLICS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1691640"/>
            <a:ext cx="495284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4 480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2514600"/>
            <a:ext cx="49528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+13.7% vs mois précédent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2880360"/>
            <a:ext cx="495284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  <a:latin typeface="Calibri Light"/>
              </a:rPr>
              <a:t>Clics totaux toutes plateformes confondues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5410047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4069080"/>
            <a:ext cx="109728" cy="109728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005072"/>
            <a:ext cx="476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ITINÉRAIRES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43400"/>
            <a:ext cx="495284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66360"/>
            <a:ext cx="49528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+15.3% vs mois précédent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495284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  <a:latin typeface="Calibri Light"/>
              </a:rPr>
              <a:t>Nombre total de demandes d'itinéraire vers le point de vente Google + Meta</a:t>
            </a:r>
          </a:p>
        </p:txBody>
      </p:sp>
      <p:pic>
        <p:nvPicPr>
          <p:cNvPr id="24" name="Picture 23" descr="tmpxr025ss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3840480"/>
            <a:ext cx="5410047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GOOGLE 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97280" cy="1828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0"/>
                </a:solidFill>
                <a:latin typeface="Calibri Light"/>
              </a:rPr>
              <a:t>Mars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0B0"/>
                </a:solidFill>
                <a:latin typeface="Calibri Light"/>
              </a:rPr>
              <a:t>TARMAAC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515258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41732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53312"/>
            <a:ext cx="28751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IMPRESSIONS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30580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124 500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30580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+13.0% vs mois précédent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30580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  <a:latin typeface="Calibri Light"/>
              </a:rPr>
              <a:t>Nombre total d'impressions toutes campagnes Google confondues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188720"/>
            <a:ext cx="3515258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141732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5418" y="1353312"/>
            <a:ext cx="28751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CLICS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1691640"/>
            <a:ext cx="30580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1 200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818" y="2514600"/>
            <a:ext cx="30580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+14.3% vs mois précédent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6818" y="2880360"/>
            <a:ext cx="30580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  <a:latin typeface="Calibri Light"/>
              </a:rPr>
              <a:t>Nombre de clics sur les campagnes Search Google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1188720"/>
            <a:ext cx="3515258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141732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84996" y="1353312"/>
            <a:ext cx="28751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CLICS PERFMAX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6396" y="1691640"/>
            <a:ext cx="30580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890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396" y="2514600"/>
            <a:ext cx="30580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+14.1% vs mois précédent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396" y="2880360"/>
            <a:ext cx="30580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  <a:latin typeface="Calibri Light"/>
              </a:rPr>
              <a:t>Nombre de clics sur les campagnes Performance Max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40480"/>
            <a:ext cx="5410047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406908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005072"/>
            <a:ext cx="476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COÛT GOOGLE 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43400"/>
            <a:ext cx="495284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5 842,30 €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166360"/>
            <a:ext cx="49528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+14.6% vs mois précédent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532120"/>
            <a:ext cx="495284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  <a:latin typeface="Calibri Light"/>
              </a:rPr>
              <a:t>Budget total dépensé sur Google Ads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3007" y="3840480"/>
            <a:ext cx="5410047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61607" y="406908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0207" y="4005072"/>
            <a:ext cx="476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CPC MOYEN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1607" y="4343400"/>
            <a:ext cx="495284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2,50 €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1607" y="5166360"/>
            <a:ext cx="49528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+0.4% vs mois précédent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1607" y="5532120"/>
            <a:ext cx="495284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  <a:latin typeface="Calibri Light"/>
              </a:rPr>
              <a:t>CPC moyen toutes campagnes Google confondues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GOOGLE ADS — ÉVOLUTION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97280" cy="1828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0B0"/>
                </a:solidFill>
                <a:latin typeface="Calibri Light"/>
              </a:rPr>
              <a:t>TARMAAC</a:t>
            </a:r>
          </a:p>
        </p:txBody>
      </p:sp>
      <p:pic>
        <p:nvPicPr>
          <p:cNvPr id="5" name="Picture 4" descr="tmpo79pum3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2560320"/>
          </a:xfrm>
          <a:prstGeom prst="rect">
            <a:avLst/>
          </a:prstGeom>
        </p:spPr>
      </p:pic>
      <p:pic>
        <p:nvPicPr>
          <p:cNvPr id="6" name="Picture 5" descr="tmpuwhgai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486400" cy="2560320"/>
          </a:xfrm>
          <a:prstGeom prst="rect">
            <a:avLst/>
          </a:prstGeom>
        </p:spPr>
      </p:pic>
      <p:pic>
        <p:nvPicPr>
          <p:cNvPr id="7" name="Picture 6" descr="tmp3u05utu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840480"/>
            <a:ext cx="5486400" cy="2560320"/>
          </a:xfrm>
          <a:prstGeom prst="rect">
            <a:avLst/>
          </a:prstGeom>
        </p:spPr>
      </p:pic>
      <p:pic>
        <p:nvPicPr>
          <p:cNvPr id="8" name="Picture 7" descr="tmpd394tv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840480"/>
            <a:ext cx="5486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DÉTAILS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97280" cy="182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0B0"/>
                </a:solidFill>
                <a:latin typeface="Calibri Light"/>
              </a:rPr>
              <a:t>TARMAAC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8023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0B0B0"/>
                </a:solidFill>
                <a:latin typeface="Calibri Light"/>
              </a:rPr>
              <a:t>Janvier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93127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0B0B0"/>
                </a:solidFill>
                <a:latin typeface="Calibri Light"/>
              </a:rPr>
              <a:t>Février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87687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 Light"/>
              </a:rPr>
              <a:t>Mars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447" y="1645920"/>
            <a:ext cx="10972800" cy="5029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7735" y="1719072"/>
            <a:ext cx="36576" cy="35661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327" y="1737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Light"/>
              </a:rPr>
              <a:t>Page Généraliste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8023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 Light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3127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 Light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87687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 Light"/>
              </a:rPr>
              <a:t>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447" y="2304288"/>
            <a:ext cx="10972800" cy="5029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735" y="2377440"/>
            <a:ext cx="36576" cy="35661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327" y="23957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Light"/>
              </a:rPr>
              <a:t>Page Lit Coffre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8023" y="2395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 Light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3127" y="2395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 Light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7687" y="2395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 Light"/>
              </a:rPr>
              <a:t>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447" y="2962656"/>
            <a:ext cx="10972800" cy="5029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735" y="3035808"/>
            <a:ext cx="36576" cy="35661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327" y="30540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Light"/>
              </a:rPr>
              <a:t>Page Lit motorisé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8023" y="30540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 Light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3127" y="30540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 Light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7687" y="30540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 Light"/>
              </a:rPr>
              <a:t>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447" y="3621024"/>
            <a:ext cx="10972800" cy="5029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735" y="3694176"/>
            <a:ext cx="36576" cy="35661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327" y="37124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Light"/>
              </a:rPr>
              <a:t>Page Prestige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8023" y="3712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 Light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3127" y="3712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 Light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7687" y="3712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 Light"/>
              </a:rPr>
              <a:t>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447" y="4279392"/>
            <a:ext cx="10972800" cy="5029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7735" y="4352544"/>
            <a:ext cx="36576" cy="35661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2327" y="43708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Light"/>
              </a:rPr>
              <a:t>Page Lit escamotable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8023" y="43708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 Light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3127" y="43708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 Light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7687" y="43708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 Light"/>
              </a:rPr>
              <a:t>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447" y="5166360"/>
            <a:ext cx="10972800" cy="5029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7735" y="5239512"/>
            <a:ext cx="36576" cy="35661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2327" y="5257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Light"/>
              </a:rPr>
              <a:t>Diffusion totale des publicités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8023" y="5257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 Light"/>
              </a:rPr>
              <a:t>191 000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93127" y="5257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 Light"/>
              </a:rPr>
              <a:t>217 200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87687" y="5257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 Light"/>
              </a:rPr>
              <a:t>245 500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9447" y="5824728"/>
            <a:ext cx="10972800" cy="5029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7735" y="5897880"/>
            <a:ext cx="36576" cy="35661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2327" y="59161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Light"/>
              </a:rPr>
              <a:t>Total des clics sur les publicités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8023" y="5916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 Light"/>
              </a:rPr>
              <a:t>3 480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93127" y="5916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 Light"/>
              </a:rPr>
              <a:t>3 940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87687" y="5916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 Light"/>
              </a:rPr>
              <a:t>4 480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META 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97280" cy="18288"/>
          </a:xfrm>
          <a:prstGeom prst="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0"/>
                </a:solidFill>
                <a:latin typeface="Calibri Light"/>
              </a:rPr>
              <a:t>Mars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0B0"/>
                </a:solidFill>
                <a:latin typeface="Calibri Light"/>
              </a:rPr>
              <a:t>TARMAAC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515258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417320"/>
            <a:ext cx="109728" cy="109728"/>
          </a:xfrm>
          <a:prstGeom prst="ellipse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53312"/>
            <a:ext cx="28751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COÛT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30580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3 200,00 €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30580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+14.3% vs mois précédent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30580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  <a:latin typeface="Calibri Light"/>
              </a:rPr>
              <a:t>Budget total dépensé sur Meta 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188720"/>
            <a:ext cx="3515258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1417320"/>
            <a:ext cx="109728" cy="109728"/>
          </a:xfrm>
          <a:prstGeom prst="ellipse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5418" y="1353312"/>
            <a:ext cx="28751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IMPRESSIONS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1691640"/>
            <a:ext cx="30580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89 000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818" y="2514600"/>
            <a:ext cx="30580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+13.4% vs mois précédent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6818" y="2880360"/>
            <a:ext cx="30580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  <a:latin typeface="Calibri Light"/>
              </a:rPr>
              <a:t>Nombre d'impressions sur les publicités Meta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1188720"/>
            <a:ext cx="3515258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1417320"/>
            <a:ext cx="109728" cy="109728"/>
          </a:xfrm>
          <a:prstGeom prst="ellipse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84996" y="1353312"/>
            <a:ext cx="28751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6396" y="1691640"/>
            <a:ext cx="30580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1 560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396" y="2514600"/>
            <a:ext cx="30580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+13.0% vs mois précédent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396" y="2880360"/>
            <a:ext cx="30580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  <a:latin typeface="Calibri Light"/>
              </a:rPr>
              <a:t>Nombre de clics sur les publicités Meta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40480"/>
            <a:ext cx="3515258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4069080"/>
            <a:ext cx="109728" cy="109728"/>
          </a:xfrm>
          <a:prstGeom prst="ellipse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005072"/>
            <a:ext cx="28751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CPC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43400"/>
            <a:ext cx="30580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2,05 €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166360"/>
            <a:ext cx="30580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+1.0% vs mois précédent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532120"/>
            <a:ext cx="30580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  <a:latin typeface="Calibri Light"/>
              </a:rPr>
              <a:t>Coût par clic sur les publicités Meta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8218" y="3840480"/>
            <a:ext cx="3515258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66818" y="4069080"/>
            <a:ext cx="109728" cy="109728"/>
          </a:xfrm>
          <a:prstGeom prst="ellipse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95418" y="4005072"/>
            <a:ext cx="28751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CTR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6818" y="4343400"/>
            <a:ext cx="30580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1,75%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6818" y="5166360"/>
            <a:ext cx="30580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-0.6% vs mois précédent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6818" y="5532120"/>
            <a:ext cx="30580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  <a:latin typeface="Calibri Light"/>
              </a:rPr>
              <a:t>Taux de clic sur les publicités Meta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27796" y="3840480"/>
            <a:ext cx="3515258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56396" y="4069080"/>
            <a:ext cx="109728" cy="109728"/>
          </a:xfrm>
          <a:prstGeom prst="ellipse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84996" y="4005072"/>
            <a:ext cx="28751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COÛT / CONVERSION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6396" y="4343400"/>
            <a:ext cx="30580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28,15 €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6396" y="5166360"/>
            <a:ext cx="30580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-6.8% vs mois précédent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6396" y="5532120"/>
            <a:ext cx="30580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  <a:latin typeface="Calibri Light"/>
              </a:rPr>
              <a:t>Coût total divisé par le nombre total de conversions (formulaires + appels + itinéraires)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META ADS — ÉVOLUTION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97280" cy="18288"/>
          </a:xfrm>
          <a:prstGeom prst="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0B0"/>
                </a:solidFill>
                <a:latin typeface="Calibri Light"/>
              </a:rPr>
              <a:t>TARMAAC</a:t>
            </a:r>
          </a:p>
        </p:txBody>
      </p:sp>
      <p:pic>
        <p:nvPicPr>
          <p:cNvPr id="5" name="Picture 4" descr="tmpcgbtln5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2560320"/>
          </a:xfrm>
          <a:prstGeom prst="rect">
            <a:avLst/>
          </a:prstGeom>
        </p:spPr>
      </p:pic>
      <p:pic>
        <p:nvPicPr>
          <p:cNvPr id="6" name="Picture 5" descr="tmph4yzrf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486400" cy="2560320"/>
          </a:xfrm>
          <a:prstGeom prst="rect">
            <a:avLst/>
          </a:prstGeom>
        </p:spPr>
      </p:pic>
      <p:pic>
        <p:nvPicPr>
          <p:cNvPr id="7" name="Picture 6" descr="tmpzqd58q1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840480"/>
            <a:ext cx="5486400" cy="2560320"/>
          </a:xfrm>
          <a:prstGeom prst="rect">
            <a:avLst/>
          </a:prstGeom>
        </p:spPr>
      </p:pic>
      <p:pic>
        <p:nvPicPr>
          <p:cNvPr id="8" name="Picture 7" descr="tmpz82m0jl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840480"/>
            <a:ext cx="5486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MICROSOFT 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97280" cy="1828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0"/>
                </a:solidFill>
                <a:latin typeface="Calibri Light"/>
              </a:rPr>
              <a:t>Mars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0B0"/>
                </a:solidFill>
                <a:latin typeface="Calibri Light"/>
              </a:rPr>
              <a:t>TARMAAC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10047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417320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53312"/>
            <a:ext cx="476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COÛT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495284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1 200,00 €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49528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+14.3% vs mois précédent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188720"/>
            <a:ext cx="5410047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61607" y="1417320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0207" y="1353312"/>
            <a:ext cx="476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1691640"/>
            <a:ext cx="495284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32 000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2514600"/>
            <a:ext cx="49528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+12.3% vs mois précédent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5410047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069080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005072"/>
            <a:ext cx="476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CLICS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43400"/>
            <a:ext cx="495284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580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66360"/>
            <a:ext cx="49528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+13.7% vs mois précédent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840480"/>
            <a:ext cx="5410047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61607" y="4069080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0207" y="4005072"/>
            <a:ext cx="476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CPC MOYEN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1607" y="4343400"/>
            <a:ext cx="495284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2,07 €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1607" y="5166360"/>
            <a:ext cx="49528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+0.5% vs mois précédent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MICROSOFT ADS — ÉVOLUTION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97280" cy="1828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0B0"/>
                </a:solidFill>
                <a:latin typeface="Calibri Light"/>
              </a:rPr>
              <a:t>TARMAAC</a:t>
            </a:r>
          </a:p>
        </p:txBody>
      </p:sp>
      <p:pic>
        <p:nvPicPr>
          <p:cNvPr id="5" name="Picture 4" descr="tmp37wom7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2560320"/>
          </a:xfrm>
          <a:prstGeom prst="rect">
            <a:avLst/>
          </a:prstGeom>
        </p:spPr>
      </p:pic>
      <p:pic>
        <p:nvPicPr>
          <p:cNvPr id="6" name="Picture 5" descr="tmpfius0pt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486400" cy="2560320"/>
          </a:xfrm>
          <a:prstGeom prst="rect">
            <a:avLst/>
          </a:prstGeom>
        </p:spPr>
      </p:pic>
      <p:pic>
        <p:nvPicPr>
          <p:cNvPr id="7" name="Picture 6" descr="tmpuez8q5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840480"/>
            <a:ext cx="5486400" cy="2560320"/>
          </a:xfrm>
          <a:prstGeom prst="rect">
            <a:avLst/>
          </a:prstGeom>
        </p:spPr>
      </p:pic>
      <p:pic>
        <p:nvPicPr>
          <p:cNvPr id="8" name="Picture 7" descr="tmpy6lqx7j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840480"/>
            <a:ext cx="5486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SYNTHÈSE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97280" cy="182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0"/>
                </a:solidFill>
                <a:latin typeface="Calibri Light"/>
              </a:rPr>
              <a:t>Mars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0B0"/>
                </a:solidFill>
                <a:latin typeface="Calibri Light"/>
              </a:rPr>
              <a:t>TARMAAC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10047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417320"/>
            <a:ext cx="109728" cy="109728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53312"/>
            <a:ext cx="476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ACHAT MÉDIA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495284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10 242,30 €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49528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+14.4% vs mois précédent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495284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  <a:latin typeface="Calibri Light"/>
              </a:rPr>
              <a:t>Budget total toutes plateformes confondues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188720"/>
            <a:ext cx="5410047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61607" y="141732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0207" y="1353312"/>
            <a:ext cx="476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GOOGLE 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1691640"/>
            <a:ext cx="495284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5 842,30 €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2514600"/>
            <a:ext cx="49528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+14.6% vs mois précédent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2880360"/>
            <a:ext cx="495284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  <a:latin typeface="Calibri Light"/>
              </a:rPr>
              <a:t>Budget total dépensé sur Google Ads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3515258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4069080"/>
            <a:ext cx="109728" cy="109728"/>
          </a:xfrm>
          <a:prstGeom prst="ellipse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005072"/>
            <a:ext cx="28751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META 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43400"/>
            <a:ext cx="30580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3 200,00 €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66360"/>
            <a:ext cx="30580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+14.3% vs mois précédent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30580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  <a:latin typeface="Calibri Light"/>
              </a:rPr>
              <a:t>Budget total dépensé sur Meta Ads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8218" y="3840480"/>
            <a:ext cx="3515258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66818" y="4069080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95418" y="4005072"/>
            <a:ext cx="28751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MICROSOFT 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6818" y="4343400"/>
            <a:ext cx="30580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1 200,00 €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6818" y="5166360"/>
            <a:ext cx="30580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+14.3% vs mois précédent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27796" y="3840480"/>
            <a:ext cx="3515258" cy="237744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56396" y="4069080"/>
            <a:ext cx="109728" cy="109728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84996" y="4005072"/>
            <a:ext cx="28751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Calibri Light"/>
              </a:rPr>
              <a:t>COÛT / CONVERSION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6396" y="4343400"/>
            <a:ext cx="30580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28,15 €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6396" y="5166360"/>
            <a:ext cx="30580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 Light"/>
              </a:rPr>
              <a:t>-6.8% vs mois précédent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6396" y="5532120"/>
            <a:ext cx="30580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0"/>
                </a:solidFill>
                <a:latin typeface="Calibri Light"/>
              </a:rPr>
              <a:t>Coût total divisé par le nombre total de conversions (formulaires + appels + itinéraires)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TARMAAC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447" y="3200400"/>
            <a:ext cx="1828800" cy="182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 Light"/>
              </a:rPr>
              <a:t>WWW.TARMAAC.IO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